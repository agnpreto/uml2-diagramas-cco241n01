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o tema. Lembrar que na UML 1.x esse diagrama se chamava Diagrama de Colaboração.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Definição: diagrama comportamental, do grupo dos diagramas de interação. Ele mostra objetos, os links entre eles e as mensagens numeradas. A diferença principal para o de Sequência é que aqui o foco é a organização dos objetos, não 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Fase: análise e projeto. Ele é útil para desenhar a colaboração entre objetos e para conferir se o diagrama de classes tem as associações necessárias. Limitação: com muitos objetos e mensagens, o diagrama de Sequência fica mais 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por cada elemento. Destacar que a mensagem fica ao lado do link, com uma seta curta mostrando a direção. Mensagens de retorno geralmente são omitidas.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numeração decimal é o que substitui o eixo do tempo do diagrama de Sequência. Número aninhado significa chamada feita dentro de outra. Asterisco é repetição, colchetes são condição.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Seguir a numeração: 1, o cliente finaliza a compra na tela. 1.1, a tela valida os itens do carrinho. 1.2, a tela pede ao controller para criar o pedido. Dentro disso, 1.2.1 verifica o estoque e 1.2.2 salva o pedido, só se o estoque estiver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diagramas carregam a mesma informação e dá para converter um no outro. No de Sequência a ordem vem da posição vertical. No de Comunicação a ordem vem da numeração, e o destaque fica nas ligações entre os objetos.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Sequência: equivalência semântica, muda o foco. Classe: o diagrama de comunicação é quase um diagrama de objetos com mensagens por cima. Caso de Uso: o caso de uso diz o que o sistema faz; o de comunicação detalha como um cenário desse caso de uso é realizado.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fechamento do conteúdo: os dois mostram a mesma interação, mas cada um destaca uma pergunta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perguntas. Possíveis perguntas: qual a diferença para o de Sequência? Resposta: mesma informação, foco diferente. Quando preferir este? Com poucos objetos e quando as ligações importam.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100" kern="0" dirty="0">
                <a:solidFill>
                  <a:srgbClr val="F2B8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UML 2 · DIAGRAMAS DE INTERAÇÃO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12800" y="27749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de Comunicação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274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F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antigo Diagrama de Colaboração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F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Dani · Ricardo · Maria Aparecida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440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diagrama de interação que mostra </a:t>
            </a:r>
            <a:r>
              <a:rPr lang="en-US" sz="22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quais objetos colaboram</a:t>
            </a:r>
            <a:r>
              <a:rPr lang="en-US" sz="220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em um cenário e </a:t>
            </a:r>
            <a:r>
              <a:rPr lang="en-US" sz="22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quais mensagens</a:t>
            </a:r>
            <a:r>
              <a:rPr lang="en-US" sz="220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eles trocam entre si.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5975" y="2700655"/>
            <a:ext cx="3380317" cy="1293001"/>
          </a:xfrm>
          <a:prstGeom prst="roundRect">
            <a:avLst>
              <a:gd name="adj" fmla="val 7612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316" y="2955996"/>
            <a:ext cx="295572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Foco na estrutura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316" y="3276036"/>
            <a:ext cx="295572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Mostra quem está ligado a quem durante a interação.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5842" y="2700655"/>
            <a:ext cx="3380317" cy="1293001"/>
          </a:xfrm>
          <a:prstGeom prst="roundRect">
            <a:avLst>
              <a:gd name="adj" fmla="val 7612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182" y="2955996"/>
            <a:ext cx="295572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Ordem por números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1182" y="3276036"/>
            <a:ext cx="295572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sequência 1, 1.1, 1.2 substitui a linha do tempo.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5709" y="2700655"/>
            <a:ext cx="3380317" cy="1293001"/>
          </a:xfrm>
          <a:prstGeom prst="roundRect">
            <a:avLst>
              <a:gd name="adj" fmla="val 7612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049" y="2955996"/>
            <a:ext cx="295572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Família da interação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51049" y="3276036"/>
            <a:ext cx="295572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"irmão" do Diagrama de Sequência na UML 2.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1"/>
            <a:ext cx="24577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de Comunicação · UML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93546" y="6238241"/>
            <a:ext cx="1364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Quando usar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6"/>
            <a:ext cx="5187950" cy="1229501"/>
          </a:xfrm>
          <a:prstGeom prst="roundRect">
            <a:avLst>
              <a:gd name="adj" fmla="val 8005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316" y="1797755"/>
            <a:ext cx="48175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Análise e projeto detalhado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1316" y="2105096"/>
            <a:ext cx="481758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Mostra como um cenário de caso de uso acontece por dentro do sistema.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88075" y="1567816"/>
            <a:ext cx="5187950" cy="1229501"/>
          </a:xfrm>
          <a:prstGeom prst="roundRect">
            <a:avLst>
              <a:gd name="adj" fmla="val 8005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3416" y="1797755"/>
            <a:ext cx="48175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 o diagrama de classes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3416" y="2105096"/>
            <a:ext cx="481758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dois objetos trocam mensagem, deve existir associação entre as classes.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2981466"/>
            <a:ext cx="5187950" cy="1229501"/>
          </a:xfrm>
          <a:prstGeom prst="roundRect">
            <a:avLst>
              <a:gd name="adj" fmla="val 8005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1316" y="3211407"/>
            <a:ext cx="48175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Mostrar quem conversa com quem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1316" y="3518746"/>
            <a:ext cx="48175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Quando as ligações importam mais que a linha do tempo.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8075" y="2981466"/>
            <a:ext cx="5187950" cy="1229501"/>
          </a:xfrm>
          <a:prstGeom prst="roundRect">
            <a:avLst>
              <a:gd name="adj" fmla="val 8005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3416" y="3211407"/>
            <a:ext cx="48175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Cenários com poucos objetos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3416" y="3518746"/>
            <a:ext cx="481758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muitas mensagens, a numeração fica difícil de acompanhar.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1"/>
            <a:ext cx="24577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de Comunicação · UML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93546" y="6238241"/>
            <a:ext cx="1364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Elementos da notação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64641"/>
          <a:ext cx="10566400" cy="3029374"/>
        </p:xfrm>
        <a:graphic>
          <a:graphicData uri="http://schemas.openxmlformats.org/drawingml/2006/table">
            <a:tbl>
              <a:tblPr/>
              <a:tblGrid>
                <a:gridCol w="3522133"/>
                <a:gridCol w="3522133"/>
                <a:gridCol w="3522133"/>
              </a:tblGrid>
              <a:tr h="46340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Elemento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Notação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Significado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E5"/>
                    </a:solidFill>
                  </a:tcPr>
                </a:tc>
              </a:tr>
              <a:tr h="46340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Linha de vida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F5FD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 : Pedido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Objeto que participa da interação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40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Linha sólida entre objetos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Canal por onde as mensagens passam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232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Mensagem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F5FD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1: validar() →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Chamada numerada, com seta de direção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40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Autochamada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 em laço no próprio objeto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Objeto envia mensagem a si mesmo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40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Ator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Boneco palito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Quem inicia a interação (opcional)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39"/>
            <a:ext cx="24577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de Comunicação · UML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293546" y="6238239"/>
            <a:ext cx="1364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Numeração e controle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10560050" cy="922161"/>
          </a:xfrm>
          <a:prstGeom prst="roundRect">
            <a:avLst>
              <a:gd name="adj" fmla="val 10673"/>
            </a:avLst>
          </a:prstGeom>
          <a:solidFill>
            <a:srgbClr val="FBFAF7"/>
          </a:solidFill>
          <a:ln w="6350">
            <a:solidFill>
              <a:srgbClr val="C5C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316" y="1886657"/>
            <a:ext cx="418592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5F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→ 1.1 → 1.2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89316" y="1772357"/>
            <a:ext cx="59033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Aninhamento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89316" y="2054296"/>
            <a:ext cx="590331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1.1 e 1.2 acontecem dentro da mensagem 1.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2648728"/>
            <a:ext cx="10560050" cy="922161"/>
          </a:xfrm>
          <a:prstGeom prst="roundRect">
            <a:avLst>
              <a:gd name="adj" fmla="val 10673"/>
            </a:avLst>
          </a:prstGeom>
          <a:solidFill>
            <a:srgbClr val="FBFAF7"/>
          </a:solidFill>
          <a:ln w="6350">
            <a:solidFill>
              <a:srgbClr val="C5CE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1316" y="2967568"/>
            <a:ext cx="418592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5F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1.1*: calcularItem()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89316" y="2853268"/>
            <a:ext cx="59033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Iteração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89316" y="3135207"/>
            <a:ext cx="590331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asterisco indica que a mensagem se repete.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975" y="3729639"/>
            <a:ext cx="10560050" cy="922161"/>
          </a:xfrm>
          <a:prstGeom prst="roundRect">
            <a:avLst>
              <a:gd name="adj" fmla="val 10673"/>
            </a:avLst>
          </a:prstGeom>
          <a:solidFill>
            <a:srgbClr val="FBFAF7"/>
          </a:solidFill>
          <a:ln w="6350">
            <a:solidFill>
              <a:srgbClr val="C5C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1316" y="4048478"/>
            <a:ext cx="418592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5F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[ok]: confirmar()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89316" y="3934178"/>
            <a:ext cx="59033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Condição de guarda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89316" y="4216118"/>
            <a:ext cx="590331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executa se a condição entre colchetes for verdadeira.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24577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de Comunicação · UML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93546" y="6238239"/>
            <a:ext cx="1364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Exemplo: cliente finaliza uma compra</a:t>
            </a:r>
            <a:endParaRPr lang="en-US" sz="3200" dirty="0"/>
          </a:p>
        </p:txBody>
      </p:sp>
      <p:pic>
        <p:nvPicPr>
          <p:cNvPr id="3" name="Image 0" descr="Diagrama de comunicação: o Cliente envia 1: finalizar() para TelaCheckout; TelaCheckout envia 1.1: validarItens() para Carrinho e 1.2: criarPedido() para PedidoController; PedidoController envia 1.2.1: verificarEstoque() para Estoque e 1.2.2 [ok]: salvar() para Pedido.">    </p:cNvPr>
          <p:cNvPicPr>
            <a:picLocks noChangeAspect="1"/>
          </p:cNvPicPr>
          <p:nvPr/>
        </p:nvPicPr>
        <p:blipFill>
          <a:blip r:embed="rId1"/>
          <a:srcRect l="0" r="0" t="-21" b="-21"/>
          <a:stretch/>
        </p:blipFill>
        <p:spPr>
          <a:xfrm>
            <a:off x="812800" y="1513839"/>
            <a:ext cx="10566400" cy="3695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6238242"/>
            <a:ext cx="24577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de Comunicação · UML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293546" y="6238242"/>
            <a:ext cx="1364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Mesmo cenário, duas visões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2"/>
            <a:ext cx="523240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Sequência: o tempo desce na vertical</a:t>
            </a:r>
            <a:endParaRPr lang="en-US" sz="1600" dirty="0"/>
          </a:p>
        </p:txBody>
      </p:sp>
      <p:pic>
        <p:nvPicPr>
          <p:cNvPr id="4" name="Image 0" descr="Diagrama de sequência com TelaCheckout, Carrinho e PedidoController: primeiro validarItens para Carrinho, depois criarPedido para PedidoController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59282"/>
            <a:ext cx="5080000" cy="3124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99200" y="1513842"/>
            <a:ext cx="523240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Comunicação: a ordem está nos números</a:t>
            </a:r>
            <a:endParaRPr lang="en-US" sz="1600" dirty="0"/>
          </a:p>
        </p:txBody>
      </p:sp>
      <p:pic>
        <p:nvPicPr>
          <p:cNvPr id="6" name="Image 1" descr="Diagrama de comunicação com os mesmos objetos: TelaCheckout ligada a Carrinho pela mensagem 1: validarItens() e a PedidoController pela mensagem 2: criarPedido()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9200" y="1859282"/>
            <a:ext cx="5080000" cy="3124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2800" y="6238242"/>
            <a:ext cx="24577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de Comunicação · UML 2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293546" y="6238242"/>
            <a:ext cx="1364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Comparação com os diagramas vistos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64642"/>
          <a:ext cx="10566400" cy="2803596"/>
        </p:xfrm>
        <a:graphic>
          <a:graphicData uri="http://schemas.openxmlformats.org/drawingml/2006/table">
            <a:tbl>
              <a:tblPr/>
              <a:tblGrid>
                <a:gridCol w="3522133"/>
                <a:gridCol w="3522133"/>
                <a:gridCol w="3522133"/>
              </a:tblGrid>
              <a:tr h="51420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Diagrama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 que se parece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 que difere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E5"/>
                    </a:solidFill>
                  </a:tcPr>
                </a:tc>
              </a:tr>
              <a:tr h="76312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Sequência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Mesmos objetos e mensagens; um converte no outro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Sequência destaca o tempo; Comunicação, as ligações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12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Classe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Objetos são instâncias das classes; links refletem associações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Classe é estrutural; Comunicação mostra um cenário em execução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12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Caso de Uso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Ambos partem de um cenário do sistema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Caso de Uso mostra o quê, visto de fora; Comunicação mostra o como, por dentro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42"/>
            <a:ext cx="24577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de Comunicação · UML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293546" y="6238242"/>
            <a:ext cx="1364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6761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100" kern="0" dirty="0">
                <a:solidFill>
                  <a:srgbClr val="F2B8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LEVAR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12800" y="2988314"/>
            <a:ext cx="10883392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Sequência responde </a:t>
            </a:r>
            <a:r>
              <a:rPr lang="en-US" sz="4800" b="1" dirty="0">
                <a:solidFill>
                  <a:srgbClr val="F2B8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quando</a:t>
            </a:r>
            <a:r>
              <a:rPr lang="en-US" sz="48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Comunicação responde </a:t>
            </a:r>
            <a:r>
              <a:rPr lang="en-US" sz="4800" b="1" dirty="0">
                <a:solidFill>
                  <a:srgbClr val="F2B8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quem</a:t>
            </a:r>
            <a:r>
              <a:rPr lang="en-US" sz="48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100" kern="0" dirty="0">
                <a:solidFill>
                  <a:srgbClr val="2F5F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OBRIGADO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12800" y="30289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Perguntas?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Dani · Ricardo · Maria Aparecida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Comunicação — UML</dc:title>
  <dc:subject>PptxGenJS Presentation</dc:subject>
  <dc:creator>PptxGenJS</dc:creator>
  <cp:lastModifiedBy>PptxGenJS</cp:lastModifiedBy>
  <cp:revision>1</cp:revision>
  <dcterms:created xsi:type="dcterms:W3CDTF">2026-09-22T23:32:02Z</dcterms:created>
  <dcterms:modified xsi:type="dcterms:W3CDTF">2026-09-22T23:32:02Z</dcterms:modified>
</cp:coreProperties>
</file>